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EB Garamond"/>
      <p:regular r:id="rId18"/>
      <p:bold r:id="rId19"/>
      <p:italic r:id="rId20"/>
      <p:boldItalic r:id="rId21"/>
    </p:embeddedFont>
    <p:embeddedFont>
      <p:font typeface="Old Standard TT"/>
      <p:regular r:id="rId22"/>
      <p:bold r:id="rId23"/>
      <p: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italic.fntdata"/><Relationship Id="rId11" Type="http://schemas.openxmlformats.org/officeDocument/2006/relationships/slide" Target="slides/slide6.xml"/><Relationship Id="rId22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21" Type="http://schemas.openxmlformats.org/officeDocument/2006/relationships/font" Target="fonts/EBGaramond-boldItalic.fntdata"/><Relationship Id="rId13" Type="http://schemas.openxmlformats.org/officeDocument/2006/relationships/slide" Target="slides/slide8.xml"/><Relationship Id="rId24" Type="http://schemas.openxmlformats.org/officeDocument/2006/relationships/font" Target="fonts/OldStandardTT-italic.fntdata"/><Relationship Id="rId12" Type="http://schemas.openxmlformats.org/officeDocument/2006/relationships/slide" Target="slides/slide7.xml"/><Relationship Id="rId23" Type="http://schemas.openxmlformats.org/officeDocument/2006/relationships/font" Target="fonts/OldStandardT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bold.fntdata"/><Relationship Id="rId6" Type="http://schemas.openxmlformats.org/officeDocument/2006/relationships/slide" Target="slides/slide1.xml"/><Relationship Id="rId18" Type="http://schemas.openxmlformats.org/officeDocument/2006/relationships/font" Target="fonts/EBGaramo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Morning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we are gonna talk about Image </a:t>
            </a:r>
            <a:r>
              <a:rPr lang="en"/>
              <a:t>classification</a:t>
            </a:r>
            <a:r>
              <a:rPr lang="en"/>
              <a:t> using deep learning classifiers for the breast cancer histopathological dataset.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just quickly recap on what is the concept of Deep learning?  deep learning is like teaching a computer to learn from examples. Just as we learn to recognize objects by seeing many examples- in technical terms lets say- is a subset of machine learning that uses neural networks with multiple layers (hence "deep") to model complex patterns 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layer in the network learns to detect different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histopathological data? histopathological images provide microscopic views of tissue, which can reveal critical details about whether a tumor is benign or malignant.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deep learning used here- These images contain a high level of detail and complexity, with subtle differences between tissues. Traditional machine learning methods require manual feature extraction, which is both </a:t>
            </a:r>
            <a:r>
              <a:rPr b="1" lang="en"/>
              <a:t>time-consumin</a:t>
            </a:r>
            <a:r>
              <a:rPr lang="en"/>
              <a:t>g and may </a:t>
            </a:r>
            <a:r>
              <a:rPr b="1" lang="en"/>
              <a:t>miss intricate features</a:t>
            </a:r>
            <a:r>
              <a:rPr lang="en"/>
              <a:t> critical for accurate classification.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DL networks can - can automatically learn and extract hierarchical features from images.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collection- using done using SOB(Segmental Biopsy) OR partial mastectomy - </a:t>
            </a:r>
            <a:r>
              <a:rPr lang="en">
                <a:solidFill>
                  <a:schemeClr val="dk1"/>
                </a:solidFill>
              </a:rPr>
              <a:t>this method yields </a:t>
            </a:r>
            <a:r>
              <a:rPr b="1" lang="en">
                <a:solidFill>
                  <a:schemeClr val="dk1"/>
                </a:solidFill>
              </a:rPr>
              <a:t>larger tissue samples</a:t>
            </a:r>
            <a:r>
              <a:rPr lang="en">
                <a:solidFill>
                  <a:schemeClr val="dk1"/>
                </a:solidFill>
              </a:rPr>
              <a:t>, it provides a more comprehensive view of the tumor structure, making it ideal for detailed histopathological analysis. (optional)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Source-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dataset was created in collaboration with the P&amp;D Laboratory for Pathological Anatomy and Cytopathology in Brazil. (reliable data)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types- numbers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Subtypes: The dataset currently contains four histological distinct types of benign breast tumors: adenosis (A), fibroadenoma (F), phyllodes tumor (PT), and tubular adenona (TA); and four malignant tumors (breast cancer): carcinoma (DC), lobular carcinoma (LC), mucinous carcinoma (MC) and papillary carcinoma (PC).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offers a robust foundation for deep learning applications in medical image classification, specifically for distinguishing benign and malignant breast tumors.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Explain the image?-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CNN architecture consists of two main parts: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Feature Extraction</a:t>
            </a:r>
            <a:r>
              <a:rPr lang="en">
                <a:solidFill>
                  <a:schemeClr val="dk1"/>
                </a:solidFill>
              </a:rPr>
              <a:t>: Using convolution and pooling layers to extract </a:t>
            </a:r>
            <a:r>
              <a:rPr b="1" lang="en">
                <a:solidFill>
                  <a:schemeClr val="dk1"/>
                </a:solidFill>
              </a:rPr>
              <a:t>meaningful features from the image.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Classification</a:t>
            </a:r>
            <a:r>
              <a:rPr lang="en">
                <a:solidFill>
                  <a:schemeClr val="dk1"/>
                </a:solidFill>
              </a:rPr>
              <a:t>: Using fully connected layers to </a:t>
            </a:r>
            <a:r>
              <a:rPr b="1" lang="en">
                <a:solidFill>
                  <a:schemeClr val="dk1"/>
                </a:solidFill>
              </a:rPr>
              <a:t>classify the image based </a:t>
            </a:r>
            <a:r>
              <a:rPr lang="en">
                <a:solidFill>
                  <a:schemeClr val="dk1"/>
                </a:solidFill>
              </a:rPr>
              <a:t>on the </a:t>
            </a:r>
            <a:r>
              <a:rPr b="1" lang="en">
                <a:solidFill>
                  <a:schemeClr val="dk1"/>
                </a:solidFill>
              </a:rPr>
              <a:t>extracted</a:t>
            </a:r>
            <a:r>
              <a:rPr lang="en">
                <a:solidFill>
                  <a:schemeClr val="dk1"/>
                </a:solidFill>
              </a:rPr>
              <a:t> features.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CNN (Convolutional Neural Network)</a:t>
            </a:r>
            <a:r>
              <a:rPr lang="en">
                <a:solidFill>
                  <a:schemeClr val="dk1"/>
                </a:solidFill>
              </a:rPr>
              <a:t>: A CNN uses filters to automatically extract important features from the </a:t>
            </a:r>
            <a:r>
              <a:rPr i="1" lang="en">
                <a:solidFill>
                  <a:schemeClr val="dk1"/>
                </a:solidFill>
              </a:rPr>
              <a:t>BreakHis</a:t>
            </a:r>
            <a:r>
              <a:rPr lang="en">
                <a:solidFill>
                  <a:schemeClr val="dk1"/>
                </a:solidFill>
              </a:rPr>
              <a:t> dataset, identifying complex patterns between benign and malignant tissue. This is useful as it learns features directly from the data, but training CNNs on high-resolution images can be computationally expensive.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SNN (Shallow Neural Network)</a:t>
            </a:r>
            <a:r>
              <a:rPr lang="en">
                <a:solidFill>
                  <a:schemeClr val="dk1"/>
                </a:solidFill>
              </a:rPr>
              <a:t>: An SNN has fewer layers and is simpler, making it suitable for basic pattern recognition in smaller datasets. For </a:t>
            </a:r>
            <a:r>
              <a:rPr i="1" lang="en">
                <a:solidFill>
                  <a:schemeClr val="dk1"/>
                </a:solidFill>
              </a:rPr>
              <a:t>this dataset</a:t>
            </a:r>
            <a:r>
              <a:rPr lang="en">
                <a:solidFill>
                  <a:schemeClr val="dk1"/>
                </a:solidFill>
              </a:rPr>
              <a:t>, it offers faster training but may miss subtle details that are essential for accurate tumor classification due to its limited depth.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ResNet50</a:t>
            </a:r>
            <a:r>
              <a:rPr lang="en">
                <a:solidFill>
                  <a:schemeClr val="dk1"/>
                </a:solidFill>
              </a:rPr>
              <a:t>: ResNet50 is a deep CNN with 50 layers,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model was launched in 2015 by Microsoft Research for the purpose of visual recognition, it allows to capture fine details in </a:t>
            </a:r>
            <a:r>
              <a:rPr i="1" lang="en">
                <a:solidFill>
                  <a:schemeClr val="dk1"/>
                </a:solidFill>
              </a:rPr>
              <a:t>BreakHis</a:t>
            </a:r>
            <a:r>
              <a:rPr lang="en">
                <a:solidFill>
                  <a:schemeClr val="dk1"/>
                </a:solidFill>
              </a:rPr>
              <a:t> images. Its depth enables high accuracy for complex image features,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though it requires significant computational power and longer training times.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Splitting for Model Evaluation: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what the shape of data looks like for 100 &amp; 400X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100x Magnification- </a:t>
            </a:r>
            <a:r>
              <a:rPr lang="en">
                <a:solidFill>
                  <a:schemeClr val="dk1"/>
                </a:solidFill>
              </a:rPr>
              <a:t>observed to have Better performance and offers a balanced view.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400x Magnification- observed to have comparatively Worse performance</a:t>
            </a:r>
            <a:r>
              <a:rPr lang="en">
                <a:solidFill>
                  <a:schemeClr val="dk1"/>
                </a:solidFill>
              </a:rPr>
              <a:t> and Likely causes overfitting.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Which we will also see in the following slides!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398cf6dfd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398cf6df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398cf6df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398cf6d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Recall </a:t>
            </a:r>
            <a:r>
              <a:rPr lang="en"/>
              <a:t>is the metric that measures the proportion of actual positive cases correctly identified by the model out of all true positives in the data.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Precision </a:t>
            </a:r>
            <a:r>
              <a:rPr lang="en"/>
              <a:t>is the metric that measures the proportion of correctly identified positive cases out of all cases the model predicted as positive.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 all datasets, resnet50 performs better than CNN and Shallow NN overall on all metrics.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performs significantly better than Shallow NN for non-augmented data. However, for augmented data this difference is reduced.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 classifiers perform a bit worse for 400x magnification.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Recall rate of the Shallow NN is significantly more for augmented data than non-augmented.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398cf6df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398cf6df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under curve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398cf6df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398cf6df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TP/TP+FP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TP/TP+FN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0.835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Recall(Sensitivity): 0.962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SNN: </a:t>
            </a:r>
            <a:br>
              <a:rPr lang="en"/>
            </a:br>
            <a:r>
              <a:rPr lang="en"/>
              <a:t>Precision: 0.922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Recall(Sensitivity): 0.606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ResNet50: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Precision: 0.917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Recall(Sensitivity): 0.981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398cf6d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398cf6d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Precision: 0.917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Recall(Sensitivity): 0.981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Mag 100: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Precision: 0.92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Recall(Sensitivity): 0.967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Mag 400: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Precision: 0.899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Recall(Sensitivity): 0.972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Augmentation: data variety, increase robustness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ResNet50, with its superior performance, may be ideal for deployment in clinical settings, while Shallow NN with data augmentation can serve as a lightweight alternative for situations with limited computational resources.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39e75cee3_5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39e75cee3_5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39e75cee3_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39e75cee3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eb.inf.ufpr.br/vri/databases/breast-cancer-histopathological-database-breakhis/" TargetMode="External"/><Relationship Id="rId4" Type="http://schemas.openxmlformats.org/officeDocument/2006/relationships/hyperlink" Target="https://cloud.google.com/discover/deep-learning-vs-machine-learning" TargetMode="External"/><Relationship Id="rId5" Type="http://schemas.openxmlformats.org/officeDocument/2006/relationships/hyperlink" Target="https://viso.ai/deep-learning/resnet-residual-neural-network/" TargetMode="External"/><Relationship Id="rId6" Type="http://schemas.openxmlformats.org/officeDocument/2006/relationships/hyperlink" Target="https://link.springer.com/article/10.1007/s42452-019-1903-4" TargetMode="External"/><Relationship Id="rId7" Type="http://schemas.openxmlformats.org/officeDocument/2006/relationships/hyperlink" Target="https://medium.com/@sssspppp/image-classification-using-cnn-0fad8367acfd" TargetMode="External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type="ctrTitle"/>
          </p:nvPr>
        </p:nvSpPr>
        <p:spPr>
          <a:xfrm>
            <a:off x="386475" y="104895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 Introduction to Deep Learning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512700" y="25717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DL</a:t>
            </a:r>
            <a:r>
              <a:rPr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classifiers to diagnose the state (benign/malignant) from Breast Cancer Histopathological Database</a:t>
            </a:r>
            <a:endParaRPr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89025" y="3818175"/>
            <a:ext cx="31239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By Payal, Renk &amp; Leon (Group 10)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512700" y="841450"/>
            <a:ext cx="8118600" cy="23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https://web.inf.ufpr.br/vri/databases/breast-cancer-histopathological-database-breakhis/</a:t>
            </a:r>
            <a:endParaRPr sz="200"/>
          </a:p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572000" y="1227975"/>
            <a:ext cx="4219200" cy="3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The data was collected from the </a:t>
            </a:r>
            <a:r>
              <a:rPr i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BreakHis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database developed by Spanhol et al., consists of  82 patients using different magnifying factors (40X, 100X, 200X, and 400X)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Dataset Composition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 Collection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Collected via SOB method (partial mastectomy or excisional biopsy).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Types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Includes 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2480 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benign and 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5429 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malignant tumor samples. 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7909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Subtypes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Four benign types (A, F, PT, TA) and four malignant types (DC, LC, MC, PC).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DL Classifiers Overview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34850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CNN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SNN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ResNet50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423" y="1058225"/>
            <a:ext cx="5203878" cy="25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138" y="3873125"/>
            <a:ext cx="3518529" cy="759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7075" y="3870425"/>
            <a:ext cx="3873270" cy="7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929375" y="4532050"/>
            <a:ext cx="3557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Magnification 100x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405150" y="4532050"/>
            <a:ext cx="3286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Magnification 400x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512700" y="841450"/>
            <a:ext cx="8118600" cy="23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 comparison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75" y="1435488"/>
            <a:ext cx="2836651" cy="227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675" y="1435488"/>
            <a:ext cx="2836651" cy="227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275" y="1435490"/>
            <a:ext cx="2836651" cy="22725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7879275" y="1356425"/>
            <a:ext cx="113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</a:t>
            </a:r>
            <a:endParaRPr b="1" sz="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ROC Curve- Original Data</a:t>
            </a:r>
            <a:endParaRPr sz="4600"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775" y="1222900"/>
            <a:ext cx="4656439" cy="37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Confusion matrix - Original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75" y="1486825"/>
            <a:ext cx="2993450" cy="21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225" y="1486825"/>
            <a:ext cx="2993450" cy="216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0550" y="1486823"/>
            <a:ext cx="2993450" cy="216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Matrix- ResNet50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0425"/>
            <a:ext cx="3043900" cy="22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0051" y="1510425"/>
            <a:ext cx="3043900" cy="2206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3950" y="1510425"/>
            <a:ext cx="3043900" cy="2206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Conclusion</a:t>
            </a:r>
            <a:endParaRPr sz="4500"/>
          </a:p>
        </p:txBody>
      </p:sp>
      <p:sp>
        <p:nvSpPr>
          <p:cNvPr id="136" name="Google Shape;136;p22"/>
          <p:cNvSpPr txBox="1"/>
          <p:nvPr/>
        </p:nvSpPr>
        <p:spPr>
          <a:xfrm>
            <a:off x="4670175" y="410225"/>
            <a:ext cx="4081200" cy="4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Overall ResNet50 performed better than Shallow NN and CNN</a:t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400x magnification seems to cause worse performance than 100x</a:t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augmentation increases the performance of Shallow NN significantly</a:t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512700" y="519200"/>
            <a:ext cx="81186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References</a:t>
            </a:r>
            <a:endParaRPr sz="4000"/>
          </a:p>
        </p:txBody>
      </p:sp>
      <p:sp>
        <p:nvSpPr>
          <p:cNvPr id="149" name="Google Shape;149;p24"/>
          <p:cNvSpPr txBox="1"/>
          <p:nvPr/>
        </p:nvSpPr>
        <p:spPr>
          <a:xfrm>
            <a:off x="687050" y="1436550"/>
            <a:ext cx="7666800" cy="17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1.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3"/>
              </a:rPr>
              <a:t>https://web.inf.ufpr.br/vri/databases/breast-cancer-histopathological-database-breakhis/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2.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4"/>
              </a:rPr>
              <a:t>https://cloud.google.com/discover/deep-learning-vs-machine-learning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3.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5"/>
              </a:rPr>
              <a:t>https://viso.ai/deep-learning/resnet-residual-neural-network/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4.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6"/>
              </a:rPr>
              <a:t>https://link.springer.com/article/10.1007/s42452-019-1903-4</a:t>
            </a: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5.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7"/>
              </a:rPr>
              <a:t>https://medium.com/@sssspppp/image-classification-using-cnn-0fad8367acfd</a:t>
            </a: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16368" y="216100"/>
            <a:ext cx="516633" cy="3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